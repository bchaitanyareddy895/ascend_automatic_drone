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7" r:id="rId2"/>
    <p:sldMasterId id="2147483673" r:id="rId3"/>
  </p:sldMasterIdLst>
  <p:sldIdLst>
    <p:sldId id="710" r:id="rId4"/>
    <p:sldId id="647" r:id="rId5"/>
    <p:sldId id="796" r:id="rId6"/>
    <p:sldId id="797" r:id="rId7"/>
    <p:sldId id="798" r:id="rId8"/>
    <p:sldId id="713" r:id="rId9"/>
    <p:sldId id="714" r:id="rId10"/>
    <p:sldId id="79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tableStyles" Target="tableStyles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 descr="C:\Users\Admin\Downloads\ilovepdf_pages-to-jpg (1)\RU_PPT Template-White Blank_page-0001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3190" cy="6858000"/>
          </a:xfrm>
          <a:prstGeom prst="rect">
            <a:avLst/>
          </a:prstGeom>
          <a:noFill/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3567D619-CB47-F041-985A-230E32AF28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1058553" y="3124200"/>
            <a:ext cx="8421823" cy="1750095"/>
          </a:xfrm>
          <a:prstGeom prst="rect">
            <a:avLst/>
          </a:prstGeom>
        </p:spPr>
        <p:txBody>
          <a:bodyPr anchor="ctr"/>
          <a:lstStyle>
            <a:lvl1pPr>
              <a:defRPr sz="4000" spc="0" baseline="0">
                <a:solidFill>
                  <a:srgbClr val="FF6600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NZ" dirty="0"/>
              <a:t>TITLE</a:t>
            </a:r>
            <a:br>
              <a:rPr lang="en-NZ" dirty="0"/>
            </a:br>
            <a:r>
              <a:rPr lang="en-NZ" dirty="0"/>
              <a:t>OF </a:t>
            </a:r>
            <a:br>
              <a:rPr lang="en-NZ" dirty="0"/>
            </a:br>
            <a:r>
              <a:rPr lang="en-NZ" dirty="0"/>
              <a:t>PRESENTATION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DD82E332-C6ED-164F-A8EB-880825F13C9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1046572" y="5129788"/>
            <a:ext cx="6755716" cy="407987"/>
          </a:xfrm>
          <a:prstGeom prst="rect">
            <a:avLst/>
          </a:prstGeom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NZ" sz="2500" kern="1200" spc="400" baseline="0" dirty="0">
                <a:solidFill>
                  <a:srgbClr val="FF6600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NZ" dirty="0"/>
              <a:t>Department Name and Division</a:t>
            </a:r>
          </a:p>
        </p:txBody>
      </p:sp>
    </p:spTree>
    <p:extLst>
      <p:ext uri="{BB962C8B-B14F-4D97-AF65-F5344CB8AC3E}">
        <p14:creationId xmlns:p14="http://schemas.microsoft.com/office/powerpoint/2010/main" val="15106107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 descr="C:\Users\Admin\Downloads\ilovepdf_pages-to-jpg (1)\RU_PPT Template-White Blank_page-0001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12193191" cy="6858000"/>
          </a:xfrm>
          <a:prstGeom prst="rect">
            <a:avLst/>
          </a:prstGeom>
          <a:noFill/>
        </p:spPr>
      </p:pic>
      <p:sp>
        <p:nvSpPr>
          <p:cNvPr id="11" name="Rectangle 10"/>
          <p:cNvSpPr/>
          <p:nvPr userDrawn="1"/>
        </p:nvSpPr>
        <p:spPr>
          <a:xfrm>
            <a:off x="685800" y="5880100"/>
            <a:ext cx="3422650" cy="977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 userDrawn="1"/>
        </p:nvSpPr>
        <p:spPr>
          <a:xfrm>
            <a:off x="8769350" y="5486400"/>
            <a:ext cx="3422650" cy="977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AFE99A1-F019-42EF-A6DD-FBA9CE0E5FB1}"/>
              </a:ext>
            </a:extLst>
          </p:cNvPr>
          <p:cNvGrpSpPr/>
          <p:nvPr userDrawn="1"/>
        </p:nvGrpSpPr>
        <p:grpSpPr>
          <a:xfrm>
            <a:off x="9220200" y="5410200"/>
            <a:ext cx="2601503" cy="1082742"/>
            <a:chOff x="10616154" y="97913"/>
            <a:chExt cx="3619726" cy="1349912"/>
          </a:xfrm>
        </p:grpSpPr>
        <p:pic>
          <p:nvPicPr>
            <p:cNvPr id="14" name="Picture 2" descr="NIRF — SAVEETHA SCHOOL OF MANAGEMENT">
              <a:extLst>
                <a:ext uri="{FF2B5EF4-FFF2-40B4-BE49-F238E27FC236}">
                  <a16:creationId xmlns:a16="http://schemas.microsoft.com/office/drawing/2014/main" id="{9B00A4D8-FB36-4B42-882E-EE775CC50F6E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517" t="4377" r="28922" b="7151"/>
            <a:stretch/>
          </p:blipFill>
          <p:spPr bwMode="auto">
            <a:xfrm>
              <a:off x="12122688" y="97913"/>
              <a:ext cx="843474" cy="59225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4" descr="Bharath University - Top University In India">
              <a:extLst>
                <a:ext uri="{FF2B5EF4-FFF2-40B4-BE49-F238E27FC236}">
                  <a16:creationId xmlns:a16="http://schemas.microsoft.com/office/drawing/2014/main" id="{8CF62A35-8903-4AEE-9045-1FA034AB8A0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737939" y="182966"/>
              <a:ext cx="1158298" cy="43088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Picture 6" descr="CREDISAPP for Ratings - Eloit">
              <a:extLst>
                <a:ext uri="{FF2B5EF4-FFF2-40B4-BE49-F238E27FC236}">
                  <a16:creationId xmlns:a16="http://schemas.microsoft.com/office/drawing/2014/main" id="{4EC4255E-9275-4645-A3F8-21419123E0ED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072901" y="114292"/>
              <a:ext cx="1155067" cy="5758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8" descr="MHRD | Innovation Cell - Home">
              <a:extLst>
                <a:ext uri="{FF2B5EF4-FFF2-40B4-BE49-F238E27FC236}">
                  <a16:creationId xmlns:a16="http://schemas.microsoft.com/office/drawing/2014/main" id="{E6BC1D26-C603-41F7-A77B-3E57CF81C4C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16154" y="789734"/>
              <a:ext cx="1857797" cy="65809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10" descr="Institution's Innovation Council | MHRD">
              <a:extLst>
                <a:ext uri="{FF2B5EF4-FFF2-40B4-BE49-F238E27FC236}">
                  <a16:creationId xmlns:a16="http://schemas.microsoft.com/office/drawing/2014/main" id="{36AC505C-EAFA-4C95-8784-8D5ACB655BDA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879" t="20721" r="8879" b="24346"/>
            <a:stretch/>
          </p:blipFill>
          <p:spPr bwMode="auto">
            <a:xfrm>
              <a:off x="12886182" y="774201"/>
              <a:ext cx="1349698" cy="6375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9" name="Title 1">
            <a:extLst>
              <a:ext uri="{FF2B5EF4-FFF2-40B4-BE49-F238E27FC236}">
                <a16:creationId xmlns:a16="http://schemas.microsoft.com/office/drawing/2014/main" id="{3567D619-CB47-F041-985A-230E32AF28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1058553" y="3124200"/>
            <a:ext cx="8421823" cy="1750095"/>
          </a:xfrm>
          <a:prstGeom prst="rect">
            <a:avLst/>
          </a:prstGeom>
        </p:spPr>
        <p:txBody>
          <a:bodyPr anchor="ctr"/>
          <a:lstStyle>
            <a:lvl1pPr>
              <a:defRPr sz="4000" spc="0" baseline="0">
                <a:solidFill>
                  <a:srgbClr val="FF6600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NZ" dirty="0"/>
              <a:t>TITLE</a:t>
            </a:r>
            <a:br>
              <a:rPr lang="en-NZ" dirty="0"/>
            </a:br>
            <a:r>
              <a:rPr lang="en-NZ" dirty="0"/>
              <a:t>OF </a:t>
            </a:r>
            <a:br>
              <a:rPr lang="en-NZ" dirty="0"/>
            </a:br>
            <a:r>
              <a:rPr lang="en-NZ" dirty="0"/>
              <a:t>PRESENTATION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DD82E332-C6ED-164F-A8EB-880825F13C9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1046572" y="5129788"/>
            <a:ext cx="6755716" cy="407987"/>
          </a:xfrm>
          <a:prstGeom prst="rect">
            <a:avLst/>
          </a:prstGeom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NZ" sz="2500" kern="1200" spc="400" baseline="0" dirty="0">
                <a:solidFill>
                  <a:srgbClr val="FF6600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NZ" dirty="0"/>
              <a:t>Department Name and Division</a:t>
            </a:r>
          </a:p>
        </p:txBody>
      </p:sp>
    </p:spTree>
    <p:extLst>
      <p:ext uri="{BB962C8B-B14F-4D97-AF65-F5344CB8AC3E}">
        <p14:creationId xmlns:p14="http://schemas.microsoft.com/office/powerpoint/2010/main" val="31748788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ver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 descr="C:\Users\Admin\Downloads\ilovepdf_pages-to-jpg (2)\RU_PPT Template-Grey Blank_page-0001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3191" cy="6858000"/>
          </a:xfrm>
          <a:prstGeom prst="rect">
            <a:avLst/>
          </a:prstGeom>
          <a:noFill/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5AFE99A1-F019-42EF-A6DD-FBA9CE0E5FB1}"/>
              </a:ext>
            </a:extLst>
          </p:cNvPr>
          <p:cNvGrpSpPr/>
          <p:nvPr userDrawn="1"/>
        </p:nvGrpSpPr>
        <p:grpSpPr>
          <a:xfrm>
            <a:off x="9220200" y="304800"/>
            <a:ext cx="2601503" cy="1082742"/>
            <a:chOff x="10616154" y="97913"/>
            <a:chExt cx="3619726" cy="1349912"/>
          </a:xfrm>
        </p:grpSpPr>
        <p:pic>
          <p:nvPicPr>
            <p:cNvPr id="22" name="Picture 2" descr="NIRF — SAVEETHA SCHOOL OF MANAGEMENT">
              <a:extLst>
                <a:ext uri="{FF2B5EF4-FFF2-40B4-BE49-F238E27FC236}">
                  <a16:creationId xmlns:a16="http://schemas.microsoft.com/office/drawing/2014/main" id="{9B00A4D8-FB36-4B42-882E-EE775CC50F6E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517" t="4377" r="28922" b="7151"/>
            <a:stretch/>
          </p:blipFill>
          <p:spPr bwMode="auto">
            <a:xfrm>
              <a:off x="12122688" y="97913"/>
              <a:ext cx="843474" cy="59225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3" name="Picture 4" descr="Bharath University - Top University In India">
              <a:extLst>
                <a:ext uri="{FF2B5EF4-FFF2-40B4-BE49-F238E27FC236}">
                  <a16:creationId xmlns:a16="http://schemas.microsoft.com/office/drawing/2014/main" id="{8CF62A35-8903-4AEE-9045-1FA034AB8A0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737939" y="182966"/>
              <a:ext cx="1158298" cy="43088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Picture 6" descr="CREDISAPP for Ratings - Eloit">
              <a:extLst>
                <a:ext uri="{FF2B5EF4-FFF2-40B4-BE49-F238E27FC236}">
                  <a16:creationId xmlns:a16="http://schemas.microsoft.com/office/drawing/2014/main" id="{4EC4255E-9275-4645-A3F8-21419123E0ED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072901" y="114292"/>
              <a:ext cx="1155067" cy="5758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5" name="Picture 8" descr="MHRD | Innovation Cell - Home">
              <a:extLst>
                <a:ext uri="{FF2B5EF4-FFF2-40B4-BE49-F238E27FC236}">
                  <a16:creationId xmlns:a16="http://schemas.microsoft.com/office/drawing/2014/main" id="{E6BC1D26-C603-41F7-A77B-3E57CF81C4C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16154" y="789734"/>
              <a:ext cx="1857797" cy="65809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6" name="Picture 10" descr="Institution's Innovation Council | MHRD">
              <a:extLst>
                <a:ext uri="{FF2B5EF4-FFF2-40B4-BE49-F238E27FC236}">
                  <a16:creationId xmlns:a16="http://schemas.microsoft.com/office/drawing/2014/main" id="{36AC505C-EAFA-4C95-8784-8D5ACB655BDA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879" t="20721" r="8879" b="24346"/>
            <a:stretch/>
          </p:blipFill>
          <p:spPr bwMode="auto">
            <a:xfrm>
              <a:off x="12886182" y="774201"/>
              <a:ext cx="1349698" cy="6375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9" name="Title 1">
            <a:extLst>
              <a:ext uri="{FF2B5EF4-FFF2-40B4-BE49-F238E27FC236}">
                <a16:creationId xmlns:a16="http://schemas.microsoft.com/office/drawing/2014/main" id="{3567D619-CB47-F041-985A-230E32AF28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1058553" y="3124200"/>
            <a:ext cx="8421823" cy="1750095"/>
          </a:xfrm>
          <a:prstGeom prst="rect">
            <a:avLst/>
          </a:prstGeom>
        </p:spPr>
        <p:txBody>
          <a:bodyPr anchor="ctr"/>
          <a:lstStyle>
            <a:lvl1pPr>
              <a:defRPr sz="4000" spc="0" baseline="0">
                <a:solidFill>
                  <a:srgbClr val="FF6600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NZ" dirty="0"/>
              <a:t>TITLE</a:t>
            </a:r>
            <a:br>
              <a:rPr lang="en-NZ" dirty="0"/>
            </a:br>
            <a:r>
              <a:rPr lang="en-NZ" dirty="0"/>
              <a:t>OF </a:t>
            </a:r>
            <a:br>
              <a:rPr lang="en-NZ" dirty="0"/>
            </a:br>
            <a:r>
              <a:rPr lang="en-NZ" dirty="0"/>
              <a:t>PRESENTATION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DD82E332-C6ED-164F-A8EB-880825F13C9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1046572" y="5129788"/>
            <a:ext cx="6755716" cy="407987"/>
          </a:xfrm>
          <a:prstGeom prst="rect">
            <a:avLst/>
          </a:prstGeom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NZ" sz="2500" kern="1200" spc="400" baseline="0" dirty="0">
                <a:solidFill>
                  <a:srgbClr val="FF6600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NZ" dirty="0"/>
              <a:t>Department Name and Division</a:t>
            </a:r>
          </a:p>
        </p:txBody>
      </p:sp>
    </p:spTree>
    <p:extLst>
      <p:ext uri="{BB962C8B-B14F-4D97-AF65-F5344CB8AC3E}">
        <p14:creationId xmlns:p14="http://schemas.microsoft.com/office/powerpoint/2010/main" val="33276564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2" descr="C:\Users\Admin\Downloads\ilovepdf_pages-to-jpg (2)\RU_PPT Template-Grey Blank_page-0001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12193191" cy="6858000"/>
          </a:xfrm>
          <a:prstGeom prst="rect">
            <a:avLst/>
          </a:prstGeom>
          <a:noFill/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3567D619-CB47-F041-985A-230E32AF28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1058553" y="3124200"/>
            <a:ext cx="8421823" cy="1750095"/>
          </a:xfrm>
          <a:prstGeom prst="rect">
            <a:avLst/>
          </a:prstGeom>
        </p:spPr>
        <p:txBody>
          <a:bodyPr anchor="ctr"/>
          <a:lstStyle>
            <a:lvl1pPr>
              <a:defRPr sz="4000" spc="0" baseline="0">
                <a:solidFill>
                  <a:srgbClr val="FF6600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NZ" dirty="0"/>
              <a:t>TITLE</a:t>
            </a:r>
            <a:br>
              <a:rPr lang="en-NZ" dirty="0"/>
            </a:br>
            <a:r>
              <a:rPr lang="en-NZ" dirty="0"/>
              <a:t>OF </a:t>
            </a:r>
            <a:br>
              <a:rPr lang="en-NZ" dirty="0"/>
            </a:br>
            <a:r>
              <a:rPr lang="en-NZ" dirty="0"/>
              <a:t>PRESENTATION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DD82E332-C6ED-164F-A8EB-880825F13C9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1046572" y="5129788"/>
            <a:ext cx="6755716" cy="407987"/>
          </a:xfrm>
          <a:prstGeom prst="rect">
            <a:avLst/>
          </a:prstGeom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NZ" sz="2500" kern="1200" spc="400" baseline="0" dirty="0">
                <a:solidFill>
                  <a:srgbClr val="FF6600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NZ" dirty="0"/>
              <a:t>Department Name and Division</a:t>
            </a:r>
          </a:p>
        </p:txBody>
      </p:sp>
    </p:spTree>
    <p:extLst>
      <p:ext uri="{BB962C8B-B14F-4D97-AF65-F5344CB8AC3E}">
        <p14:creationId xmlns:p14="http://schemas.microsoft.com/office/powerpoint/2010/main" val="21578669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96D411-367F-DE44-B86F-24693F081E8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>
              <a:defRPr>
                <a:latin typeface="Roboto Medium" pitchFamily="2" charset="0"/>
                <a:ea typeface="Roboto Medium" pitchFamily="2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3567D619-CB47-F041-985A-230E32AF28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1058553" y="3124200"/>
            <a:ext cx="4580247" cy="1750095"/>
          </a:xfrm>
          <a:prstGeom prst="rect">
            <a:avLst/>
          </a:prstGeom>
        </p:spPr>
        <p:txBody>
          <a:bodyPr anchor="ctr"/>
          <a:lstStyle>
            <a:lvl1pPr>
              <a:defRPr sz="4000" spc="0" baseline="0">
                <a:solidFill>
                  <a:srgbClr val="FF6600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NZ" dirty="0"/>
              <a:t>TITLE</a:t>
            </a:r>
            <a:br>
              <a:rPr lang="en-NZ" dirty="0"/>
            </a:br>
            <a:r>
              <a:rPr lang="en-NZ" dirty="0"/>
              <a:t>OF </a:t>
            </a:r>
            <a:br>
              <a:rPr lang="en-NZ" dirty="0"/>
            </a:br>
            <a:r>
              <a:rPr lang="en-NZ" dirty="0"/>
              <a:t>PRESENTATION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DD82E332-C6ED-164F-A8EB-880825F13C9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1046572" y="5129788"/>
            <a:ext cx="6755716" cy="407987"/>
          </a:xfrm>
          <a:prstGeom prst="rect">
            <a:avLst/>
          </a:prstGeom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NZ" sz="2500" kern="1200" spc="400" baseline="0" dirty="0">
                <a:solidFill>
                  <a:srgbClr val="FF6600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NZ" dirty="0"/>
              <a:t>Department Name and Division</a:t>
            </a:r>
          </a:p>
        </p:txBody>
      </p:sp>
      <p:pic>
        <p:nvPicPr>
          <p:cNvPr id="16" name="Picture 2" descr="C:\Users\Admin\Downloads\REVA LOGO2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4380" y="1857550"/>
            <a:ext cx="3581400" cy="99770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843648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 Slide Black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 descr="C:\Users\Admin\Downloads\ilovepdf_pages-to-jpg (4)\RU_PPT Template-Grey Blank (1)_page-0003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3190" cy="6858000"/>
          </a:xfrm>
          <a:prstGeom prst="rect">
            <a:avLst/>
          </a:prstGeom>
          <a:noFill/>
        </p:spPr>
      </p:pic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595469" y="374154"/>
            <a:ext cx="6211927" cy="440926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defRPr sz="2800" b="0" cap="all" spc="0" baseline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Heading Copy Here 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6FB73F14-68E6-0D40-8C86-4D7BCC64F88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3888" y="836613"/>
            <a:ext cx="6192837" cy="4321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600" b="0" i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pPr lvl="0"/>
            <a:r>
              <a:rPr lang="en-US" dirty="0"/>
              <a:t>SUBTITLE HERE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17A2154B-A454-8249-909D-10FDDFC0967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3391" y="1370483"/>
            <a:ext cx="7615365" cy="4722813"/>
          </a:xfrm>
          <a:prstGeom prst="rect">
            <a:avLst/>
          </a:prstGeom>
        </p:spPr>
        <p:txBody>
          <a:bodyPr/>
          <a:lstStyle>
            <a:lvl1pPr>
              <a:defRPr lang="en-US" altLang="ja-JP" sz="2400" dirty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>
              <a:defRPr lang="en-US" altLang="ja-JP" sz="2200" dirty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>
              <a:defRPr lang="en-US" altLang="ja-JP" dirty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3pPr>
            <a:lvl5pPr>
              <a:defRPr lang="en-US" dirty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5pPr>
          </a:lstStyle>
          <a:p>
            <a:pPr lvl="0">
              <a:spcAft>
                <a:spcPts val="0"/>
              </a:spcAft>
            </a:pPr>
            <a:r>
              <a:rPr lang="en-US" altLang="ja-JP" dirty="0"/>
              <a:t>Editable body copy</a:t>
            </a:r>
          </a:p>
          <a:p>
            <a:pPr marL="458788" lvl="1" indent="-215900">
              <a:spcBef>
                <a:spcPts val="1000"/>
              </a:spcBef>
              <a:spcAft>
                <a:spcPts val="0"/>
              </a:spcAft>
              <a:tabLst/>
            </a:pPr>
            <a:r>
              <a:rPr lang="en-US" altLang="ja-JP" dirty="0"/>
              <a:t>Editable body copy</a:t>
            </a:r>
          </a:p>
          <a:p>
            <a:pPr marL="809625" lvl="2" indent="-215900">
              <a:spcBef>
                <a:spcPts val="1000"/>
              </a:spcBef>
              <a:spcAft>
                <a:spcPts val="0"/>
              </a:spcAft>
              <a:tabLst/>
            </a:pPr>
            <a:r>
              <a:rPr lang="en-US" altLang="ja-JP" dirty="0"/>
              <a:t>Editable body copy</a:t>
            </a:r>
          </a:p>
          <a:p>
            <a:pPr marL="1323975" lvl="4" indent="-230188">
              <a:spcBef>
                <a:spcPts val="1000"/>
              </a:spcBef>
              <a:spcAft>
                <a:spcPts val="0"/>
              </a:spcAft>
              <a:tabLst/>
            </a:pPr>
            <a:endParaRPr lang="en-US" dirty="0"/>
          </a:p>
        </p:txBody>
      </p:sp>
      <p:sp>
        <p:nvSpPr>
          <p:cNvPr id="16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30200119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 Slide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 descr="C:\Users\Admin\Downloads\ilovepdf_pages-to-jpg (3)\RU_PPT Template-White Blank (1)_page-0003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2000" cy="6857330"/>
          </a:xfrm>
          <a:prstGeom prst="rect">
            <a:avLst/>
          </a:prstGeom>
          <a:noFill/>
        </p:spPr>
      </p:pic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595469" y="374154"/>
            <a:ext cx="6211927" cy="440926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defRPr sz="2800" b="0" cap="all" spc="0" baseline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Heading Copy Here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B73F14-68E6-0D40-8C86-4D7BCC64F88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3888" y="836613"/>
            <a:ext cx="6192837" cy="4321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600" b="0" i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pPr lvl="0"/>
            <a:r>
              <a:rPr lang="en-US" dirty="0"/>
              <a:t>SUBTITLE HERE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17A2154B-A454-8249-909D-10FDDFC0967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3391" y="1370483"/>
            <a:ext cx="7615365" cy="4722813"/>
          </a:xfrm>
          <a:prstGeom prst="rect">
            <a:avLst/>
          </a:prstGeom>
        </p:spPr>
        <p:txBody>
          <a:bodyPr/>
          <a:lstStyle>
            <a:lvl1pPr>
              <a:defRPr lang="en-US" altLang="ja-JP" sz="2400" dirty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>
              <a:defRPr lang="en-US" altLang="ja-JP" sz="2200" dirty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>
              <a:defRPr lang="en-US" altLang="ja-JP" dirty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3pPr>
            <a:lvl5pPr>
              <a:defRPr lang="en-US" dirty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5pPr>
          </a:lstStyle>
          <a:p>
            <a:pPr lvl="0">
              <a:spcAft>
                <a:spcPts val="0"/>
              </a:spcAft>
            </a:pPr>
            <a:r>
              <a:rPr lang="en-US" altLang="ja-JP" dirty="0"/>
              <a:t>Editable body copy</a:t>
            </a:r>
          </a:p>
          <a:p>
            <a:pPr marL="458788" lvl="1" indent="-215900">
              <a:spcBef>
                <a:spcPts val="1000"/>
              </a:spcBef>
              <a:spcAft>
                <a:spcPts val="0"/>
              </a:spcAft>
              <a:tabLst/>
            </a:pPr>
            <a:r>
              <a:rPr lang="en-US" altLang="ja-JP" dirty="0"/>
              <a:t>Editable body copy</a:t>
            </a:r>
          </a:p>
          <a:p>
            <a:pPr marL="809625" lvl="2" indent="-215900">
              <a:spcBef>
                <a:spcPts val="1000"/>
              </a:spcBef>
              <a:spcAft>
                <a:spcPts val="0"/>
              </a:spcAft>
              <a:tabLst/>
            </a:pPr>
            <a:r>
              <a:rPr lang="en-US" altLang="ja-JP" dirty="0"/>
              <a:t>Editable body copy</a:t>
            </a:r>
          </a:p>
          <a:p>
            <a:pPr marL="1323975" lvl="4" indent="-230188">
              <a:spcBef>
                <a:spcPts val="1000"/>
              </a:spcBef>
              <a:spcAft>
                <a:spcPts val="0"/>
              </a:spcAft>
              <a:tabLst/>
            </a:pPr>
            <a:endParaRPr lang="en-US" dirty="0"/>
          </a:p>
        </p:txBody>
      </p:sp>
      <p:sp>
        <p:nvSpPr>
          <p:cNvPr id="14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10755846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py Slide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C:\Users\Admin\Downloads\ilovepdf_pages-to-jpg (3)\RU_PPT Template-White Blank (1)_page-0004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2000" cy="6857330"/>
          </a:xfrm>
          <a:prstGeom prst="rect">
            <a:avLst/>
          </a:prstGeom>
          <a:noFill/>
        </p:spPr>
      </p:pic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595469" y="374154"/>
            <a:ext cx="6211927" cy="440926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defRPr sz="2800" b="0" cap="all" spc="0" baseline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Heading Copy Here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B73F14-68E6-0D40-8C86-4D7BCC64F88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3888" y="836613"/>
            <a:ext cx="6192837" cy="4321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600" b="0" i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pPr lvl="0"/>
            <a:r>
              <a:rPr lang="en-US" dirty="0"/>
              <a:t>SUBTITLE HERE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17A2154B-A454-8249-909D-10FDDFC0967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3391" y="1370483"/>
            <a:ext cx="7615365" cy="4722813"/>
          </a:xfrm>
          <a:prstGeom prst="rect">
            <a:avLst/>
          </a:prstGeom>
        </p:spPr>
        <p:txBody>
          <a:bodyPr/>
          <a:lstStyle>
            <a:lvl1pPr>
              <a:defRPr lang="en-US" altLang="ja-JP" sz="2400" dirty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>
              <a:defRPr lang="en-US" altLang="ja-JP" sz="2200" dirty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>
              <a:defRPr lang="en-US" altLang="ja-JP" dirty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3pPr>
            <a:lvl5pPr>
              <a:defRPr lang="en-US" dirty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5pPr>
          </a:lstStyle>
          <a:p>
            <a:pPr lvl="0">
              <a:spcAft>
                <a:spcPts val="0"/>
              </a:spcAft>
            </a:pPr>
            <a:r>
              <a:rPr lang="en-US" altLang="ja-JP" dirty="0"/>
              <a:t>Editable body copy</a:t>
            </a:r>
          </a:p>
          <a:p>
            <a:pPr marL="458788" lvl="1" indent="-215900">
              <a:spcBef>
                <a:spcPts val="1000"/>
              </a:spcBef>
              <a:spcAft>
                <a:spcPts val="0"/>
              </a:spcAft>
              <a:tabLst/>
            </a:pPr>
            <a:r>
              <a:rPr lang="en-US" altLang="ja-JP" dirty="0"/>
              <a:t>Editable body copy</a:t>
            </a:r>
          </a:p>
          <a:p>
            <a:pPr marL="809625" lvl="2" indent="-215900">
              <a:spcBef>
                <a:spcPts val="1000"/>
              </a:spcBef>
              <a:spcAft>
                <a:spcPts val="0"/>
              </a:spcAft>
              <a:tabLst/>
            </a:pPr>
            <a:r>
              <a:rPr lang="en-US" altLang="ja-JP" dirty="0"/>
              <a:t>Editable body copy</a:t>
            </a:r>
          </a:p>
          <a:p>
            <a:pPr marL="1323975" lvl="4" indent="-230188">
              <a:spcBef>
                <a:spcPts val="1000"/>
              </a:spcBef>
              <a:spcAft>
                <a:spcPts val="0"/>
              </a:spcAft>
              <a:tabLst/>
            </a:pPr>
            <a:endParaRPr lang="en-US" dirty="0"/>
          </a:p>
        </p:txBody>
      </p:sp>
      <p:sp>
        <p:nvSpPr>
          <p:cNvPr id="14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19376017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py Slide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C:\Users\Admin\Downloads\ilovepdf_pages-to-jpg (4)\RU_PPT Template-Grey Blank (1)_page-0004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12193191" cy="6858000"/>
          </a:xfrm>
          <a:prstGeom prst="rect">
            <a:avLst/>
          </a:prstGeom>
          <a:noFill/>
        </p:spPr>
      </p:pic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595469" y="374154"/>
            <a:ext cx="6211927" cy="440926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defRPr sz="2800" b="0" cap="all" spc="0" baseline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Heading Copy Here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B73F14-68E6-0D40-8C86-4D7BCC64F88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3888" y="836613"/>
            <a:ext cx="6192837" cy="4321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600" b="0" i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pPr lvl="0"/>
            <a:r>
              <a:rPr lang="en-US" dirty="0"/>
              <a:t>SUBTITLE HERE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17A2154B-A454-8249-909D-10FDDFC0967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3391" y="1370483"/>
            <a:ext cx="7615365" cy="4722813"/>
          </a:xfrm>
          <a:prstGeom prst="rect">
            <a:avLst/>
          </a:prstGeom>
        </p:spPr>
        <p:txBody>
          <a:bodyPr/>
          <a:lstStyle>
            <a:lvl1pPr>
              <a:defRPr lang="en-US" altLang="ja-JP" sz="2400" dirty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>
              <a:defRPr lang="en-US" altLang="ja-JP" sz="2200" dirty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>
              <a:defRPr lang="en-US" altLang="ja-JP" dirty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3pPr>
            <a:lvl5pPr>
              <a:defRPr lang="en-US" dirty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5pPr>
          </a:lstStyle>
          <a:p>
            <a:pPr lvl="0">
              <a:spcAft>
                <a:spcPts val="0"/>
              </a:spcAft>
            </a:pPr>
            <a:r>
              <a:rPr lang="en-US" altLang="ja-JP" dirty="0"/>
              <a:t>Editable body copy</a:t>
            </a:r>
          </a:p>
          <a:p>
            <a:pPr marL="458788" lvl="1" indent="-215900">
              <a:spcBef>
                <a:spcPts val="1000"/>
              </a:spcBef>
              <a:spcAft>
                <a:spcPts val="0"/>
              </a:spcAft>
              <a:tabLst/>
            </a:pPr>
            <a:r>
              <a:rPr lang="en-US" altLang="ja-JP" dirty="0"/>
              <a:t>Editable body copy</a:t>
            </a:r>
          </a:p>
          <a:p>
            <a:pPr marL="809625" lvl="2" indent="-215900">
              <a:spcBef>
                <a:spcPts val="1000"/>
              </a:spcBef>
              <a:spcAft>
                <a:spcPts val="0"/>
              </a:spcAft>
              <a:tabLst/>
            </a:pPr>
            <a:r>
              <a:rPr lang="en-US" altLang="ja-JP" dirty="0"/>
              <a:t>Editable body copy</a:t>
            </a:r>
          </a:p>
          <a:p>
            <a:pPr marL="1323975" lvl="4" indent="-230188">
              <a:spcBef>
                <a:spcPts val="1000"/>
              </a:spcBef>
              <a:spcAft>
                <a:spcPts val="0"/>
              </a:spcAft>
              <a:tabLst/>
            </a:pPr>
            <a:endParaRPr lang="en-US" dirty="0"/>
          </a:p>
        </p:txBody>
      </p:sp>
      <p:sp>
        <p:nvSpPr>
          <p:cNvPr id="14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10092803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ank You Custom Pictur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F49B44DA-46E8-CE45-AC10-AC35239D50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764976" y="2708920"/>
            <a:ext cx="10515600" cy="1325563"/>
          </a:xfrm>
          <a:prstGeom prst="rect">
            <a:avLst/>
          </a:prstGeom>
        </p:spPr>
        <p:txBody>
          <a:bodyPr lIns="91436" tIns="45718" rIns="91436" bIns="45718" anchor="ctr"/>
          <a:lstStyle>
            <a:lvl1pPr algn="ctr">
              <a:defRPr sz="7800" b="1" i="0" spc="0">
                <a:solidFill>
                  <a:srgbClr val="FF6600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THANK YOU</a:t>
            </a:r>
            <a:endParaRPr lang="en-NZ" dirty="0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D9D1C3BC-7BFF-1640-819B-5BED6BEC9B4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>
              <a:defRPr b="0" i="0" baseline="0">
                <a:latin typeface="Roboto Medium" pitchFamily="2" charset="0"/>
                <a:ea typeface="Roboto Medium" pitchFamily="2" charset="0"/>
              </a:defRPr>
            </a:lvl1pPr>
          </a:lstStyle>
          <a:p>
            <a:r>
              <a:rPr lang="en-US" dirty="0"/>
              <a:t>Click icon to add image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F1A0E79-2BC7-C74E-A6C5-1646C3E49F5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5352" y="6384910"/>
            <a:ext cx="812480" cy="142503"/>
          </a:xfrm>
          <a:prstGeom prst="rect">
            <a:avLst/>
          </a:prstGeom>
        </p:spPr>
      </p:pic>
      <p:pic>
        <p:nvPicPr>
          <p:cNvPr id="11" name="Picture 3" descr="C:\Users\Admin\Downloads\ilovepdf_pages-to-jpg (3)\RU_PPT Template-White Blank (1)_page-0001.jpg"/>
          <p:cNvPicPr>
            <a:picLocks noChangeAspect="1" noChangeArrowheads="1"/>
          </p:cNvPicPr>
          <p:nvPr userDrawn="1"/>
        </p:nvPicPr>
        <p:blipFill>
          <a:blip r:embed="rId3"/>
          <a:srcRect l="6250" t="83342" b="3324"/>
          <a:stretch>
            <a:fillRect/>
          </a:stretch>
        </p:blipFill>
        <p:spPr bwMode="auto">
          <a:xfrm>
            <a:off x="726141" y="5867400"/>
            <a:ext cx="11430000" cy="9144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60400032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hank You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 descr="C:\Users\Admin\Downloads\ilovepdf_pages-to-jpg (3)\RU_PPT Template-White Blank (1)_page-0002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12193191" cy="6858000"/>
          </a:xfrm>
          <a:prstGeom prst="rect">
            <a:avLst/>
          </a:prstGeom>
          <a:noFill/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F49B44DA-46E8-CE45-AC10-AC35239D50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764976" y="2708920"/>
            <a:ext cx="10515600" cy="1325563"/>
          </a:xfrm>
          <a:prstGeom prst="rect">
            <a:avLst/>
          </a:prstGeom>
        </p:spPr>
        <p:txBody>
          <a:bodyPr lIns="91436" tIns="45718" rIns="91436" bIns="45718" anchor="ctr"/>
          <a:lstStyle>
            <a:lvl1pPr algn="ctr">
              <a:defRPr sz="7800" b="1" i="0" spc="0">
                <a:solidFill>
                  <a:srgbClr val="FF6600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THANK YOU</a:t>
            </a:r>
            <a:endParaRPr lang="en-NZ" dirty="0"/>
          </a:p>
        </p:txBody>
      </p:sp>
      <p:pic>
        <p:nvPicPr>
          <p:cNvPr id="14339" name="Picture 3" descr="C:\Users\Admin\Downloads\ilovepdf_pages-to-jpg (3)\RU_PPT Template-White Blank (1)_page-0001.jpg"/>
          <p:cNvPicPr>
            <a:picLocks noChangeAspect="1" noChangeArrowheads="1"/>
          </p:cNvPicPr>
          <p:nvPr userDrawn="1"/>
        </p:nvPicPr>
        <p:blipFill>
          <a:blip r:embed="rId3" cstate="print"/>
          <a:srcRect l="6250" t="83342" b="3324"/>
          <a:stretch>
            <a:fillRect/>
          </a:stretch>
        </p:blipFill>
        <p:spPr bwMode="auto">
          <a:xfrm>
            <a:off x="2173941" y="5983224"/>
            <a:ext cx="9982200" cy="7985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6921832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hank You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Admin\Downloads\ilovepdf_pages-to-jpg (2)\RU_PPT Template-Grey Blank_page-0001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12193191" cy="6858000"/>
          </a:xfrm>
          <a:prstGeom prst="rect">
            <a:avLst/>
          </a:prstGeom>
          <a:noFill/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F49B44DA-46E8-CE45-AC10-AC35239D50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764976" y="3017837"/>
            <a:ext cx="10515600" cy="1325563"/>
          </a:xfrm>
          <a:prstGeom prst="rect">
            <a:avLst/>
          </a:prstGeom>
        </p:spPr>
        <p:txBody>
          <a:bodyPr lIns="91436" tIns="45718" rIns="91436" bIns="45718" anchor="ctr"/>
          <a:lstStyle>
            <a:lvl1pPr algn="ctr">
              <a:defRPr sz="7800" b="1" i="0" spc="0">
                <a:solidFill>
                  <a:srgbClr val="FF6600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THANK YOU</a:t>
            </a:r>
            <a:endParaRPr lang="en-NZ" dirty="0"/>
          </a:p>
        </p:txBody>
      </p:sp>
      <p:pic>
        <p:nvPicPr>
          <p:cNvPr id="6" name="Picture 2" descr="C:\Users\Admin\Downloads\ilovepdf_pages-to-jpg (2)\RU_PPT Template-Grey Blank_page-0001.jpg"/>
          <p:cNvPicPr>
            <a:picLocks noChangeAspect="1" noChangeArrowheads="1"/>
          </p:cNvPicPr>
          <p:nvPr userDrawn="1"/>
        </p:nvPicPr>
        <p:blipFill>
          <a:blip r:embed="rId2"/>
          <a:srcRect t="69444" b="16667"/>
          <a:stretch>
            <a:fillRect/>
          </a:stretch>
        </p:blipFill>
        <p:spPr bwMode="auto">
          <a:xfrm>
            <a:off x="228600" y="1752600"/>
            <a:ext cx="5486400" cy="1143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84504092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hank You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C:\Users\Admin\Downloads\FAI_7881_HDR_edit.jpg"/>
          <p:cNvPicPr>
            <a:picLocks noChangeAspect="1" noChangeArrowheads="1"/>
          </p:cNvPicPr>
          <p:nvPr userDrawn="1"/>
        </p:nvPicPr>
        <p:blipFill>
          <a:blip r:embed="rId2" cstate="print"/>
          <a:srcRect r="872" b="11451"/>
          <a:stretch>
            <a:fillRect/>
          </a:stretch>
        </p:blipFill>
        <p:spPr bwMode="auto">
          <a:xfrm>
            <a:off x="-16567" y="-16565"/>
            <a:ext cx="12246810" cy="6896100"/>
          </a:xfrm>
          <a:prstGeom prst="rect">
            <a:avLst/>
          </a:prstGeom>
          <a:noFill/>
        </p:spPr>
      </p:pic>
      <p:sp>
        <p:nvSpPr>
          <p:cNvPr id="7" name="Rectangle 6"/>
          <p:cNvSpPr/>
          <p:nvPr userDrawn="1"/>
        </p:nvSpPr>
        <p:spPr>
          <a:xfrm>
            <a:off x="-26276" y="-26276"/>
            <a:ext cx="12218276" cy="6884276"/>
          </a:xfrm>
          <a:prstGeom prst="rect">
            <a:avLst/>
          </a:prstGeom>
          <a:solidFill>
            <a:schemeClr val="dk1">
              <a:alpha val="59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76197" tIns="38098" rIns="76197" bIns="38098"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49B44DA-46E8-CE45-AC10-AC35239D50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764976" y="2708920"/>
            <a:ext cx="10515600" cy="1325563"/>
          </a:xfrm>
          <a:prstGeom prst="rect">
            <a:avLst/>
          </a:prstGeom>
        </p:spPr>
        <p:txBody>
          <a:bodyPr lIns="91436" tIns="45718" rIns="91436" bIns="45718" anchor="ctr"/>
          <a:lstStyle>
            <a:lvl1pPr algn="ctr">
              <a:defRPr sz="7800" b="1" i="0" spc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THANK YOU</a:t>
            </a:r>
            <a:endParaRPr lang="en-NZ" dirty="0"/>
          </a:p>
        </p:txBody>
      </p:sp>
      <p:pic>
        <p:nvPicPr>
          <p:cNvPr id="8" name="Picture 3" descr="C:\Users\Admin\Downloads\1-05.png"/>
          <p:cNvPicPr>
            <a:picLocks noChangeAspect="1" noChangeArrowheads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8890001" y="0"/>
            <a:ext cx="3064565" cy="147828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61415622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Custom Pictur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F49B44DA-46E8-CE45-AC10-AC35239D50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764976" y="2708920"/>
            <a:ext cx="10515600" cy="1325563"/>
          </a:xfrm>
          <a:prstGeom prst="rect">
            <a:avLst/>
          </a:prstGeom>
        </p:spPr>
        <p:txBody>
          <a:bodyPr lIns="91436" tIns="45718" rIns="91436" bIns="45718" anchor="ctr"/>
          <a:lstStyle>
            <a:lvl1pPr algn="ctr">
              <a:defRPr sz="7800" b="1" i="0" spc="0">
                <a:solidFill>
                  <a:srgbClr val="FF6600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THANK YOU</a:t>
            </a:r>
            <a:endParaRPr lang="en-NZ" dirty="0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D9D1C3BC-7BFF-1640-819B-5BED6BEC9B4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>
              <a:defRPr b="0" i="0" baseline="0">
                <a:latin typeface="Roboto Medium" pitchFamily="2" charset="0"/>
                <a:ea typeface="Roboto Medium" pitchFamily="2" charset="0"/>
              </a:defRPr>
            </a:lvl1pPr>
          </a:lstStyle>
          <a:p>
            <a:r>
              <a:rPr lang="en-US" dirty="0"/>
              <a:t>Click icon to add image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F1A0E79-2BC7-C74E-A6C5-1646C3E49F5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5352" y="6384910"/>
            <a:ext cx="812480" cy="142503"/>
          </a:xfrm>
          <a:prstGeom prst="rect">
            <a:avLst/>
          </a:prstGeom>
        </p:spPr>
      </p:pic>
      <p:pic>
        <p:nvPicPr>
          <p:cNvPr id="11" name="Picture 3" descr="C:\Users\Admin\Downloads\ilovepdf_pages-to-jpg (3)\RU_PPT Template-White Blank (1)_page-0001.jpg"/>
          <p:cNvPicPr>
            <a:picLocks noChangeAspect="1" noChangeArrowheads="1"/>
          </p:cNvPicPr>
          <p:nvPr userDrawn="1"/>
        </p:nvPicPr>
        <p:blipFill>
          <a:blip r:embed="rId3"/>
          <a:srcRect l="6250" t="83342" b="3324"/>
          <a:stretch>
            <a:fillRect/>
          </a:stretch>
        </p:blipFill>
        <p:spPr bwMode="auto">
          <a:xfrm>
            <a:off x="726141" y="5867400"/>
            <a:ext cx="11430000" cy="9144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64039927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47937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05745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81717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26505" y="2924944"/>
            <a:ext cx="10438047" cy="3024336"/>
          </a:xfrm>
        </p:spPr>
        <p:txBody>
          <a:bodyPr/>
          <a:lstStyle/>
          <a:p>
            <a:pPr algn="ctr"/>
            <a:r>
              <a:rPr lang="en-US" altLang="en-US" sz="3600" b="1" dirty="0">
                <a:solidFill>
                  <a:srgbClr val="FF9900"/>
                </a:solidFill>
                <a:latin typeface="Arial" panose="020B0604020202020204" pitchFamily="34" charset="0"/>
              </a:rPr>
              <a:t>ISRO I-ROC-U Robotics Challenge</a:t>
            </a:r>
            <a:endParaRPr lang="en-US" sz="3200" dirty="0">
              <a:solidFill>
                <a:srgbClr val="FF99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8"/>
          </p:nvPr>
        </p:nvSpPr>
        <p:spPr>
          <a:xfrm>
            <a:off x="77044" y="319590"/>
            <a:ext cx="11772055" cy="576163"/>
          </a:xfrm>
        </p:spPr>
        <p:txBody>
          <a:bodyPr/>
          <a:lstStyle/>
          <a:p>
            <a:pPr algn="ctr"/>
            <a:r>
              <a:rPr lang="en-US" sz="40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5A3C14A-F937-4231-B6F1-40B429FAFB2F}" type="slidenum">
              <a:rPr kumimoji="0" lang="en-NZ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 Medium" pitchFamily="2" charset="0"/>
                <a:ea typeface="Roboto Medium" pitchFamily="2" charset="0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NZ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 Medium" pitchFamily="2" charset="0"/>
              <a:ea typeface="Roboto Medium" pitchFamily="2" charset="0"/>
              <a:cs typeface="+mn-cs"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AA43FDB-190A-4C2D-9FB0-960584997996}"/>
              </a:ext>
            </a:extLst>
          </p:cNvPr>
          <p:cNvSpPr>
            <a:spLocks noGrp="1" noChangeArrowheads="1"/>
          </p:cNvSpPr>
          <p:nvPr>
            <p:ph type="body" sz="quarter" idx="17"/>
          </p:nvPr>
        </p:nvSpPr>
        <p:spPr bwMode="auto">
          <a:xfrm>
            <a:off x="432020" y="1636581"/>
            <a:ext cx="11258288" cy="3076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 are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Team Drone-A-</a:t>
            </a:r>
            <a:r>
              <a:rPr kumimoji="0" lang="en-US" altLang="en-US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Charyas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from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REVA University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 group of aerospace engineering students specializing in autonomous robotics.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 have been selected for the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ISRO I-ROC-U Robotics Challenge 2026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 national-level platform hosted by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URSC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Current aerial scouts struggle in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GPS-denied planetary environments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 our mission is to build a "space robot" that navigates these terrains without human or satellite assistance.</a:t>
            </a:r>
          </a:p>
        </p:txBody>
      </p:sp>
    </p:spTree>
    <p:extLst>
      <p:ext uri="{BB962C8B-B14F-4D97-AF65-F5344CB8AC3E}">
        <p14:creationId xmlns:p14="http://schemas.microsoft.com/office/powerpoint/2010/main" val="27027893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21B58F-EEE9-0FC3-840A-3525842507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B87FF4-07BF-6B67-63CA-AA60F9B51FA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7044" y="159048"/>
            <a:ext cx="11772055" cy="576163"/>
          </a:xfrm>
        </p:spPr>
        <p:txBody>
          <a:bodyPr/>
          <a:lstStyle/>
          <a:p>
            <a:pPr algn="ctr"/>
            <a:r>
              <a:rPr lang="en-US" sz="40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7FDB39-C5BC-A303-21BE-9383DCD19507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5A3C14A-F937-4231-B6F1-40B429FAFB2F}" type="slidenum">
              <a:rPr kumimoji="0" lang="en-NZ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 Medium" pitchFamily="2" charset="0"/>
                <a:ea typeface="Roboto Medium" pitchFamily="2" charset="0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NZ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 Medium" pitchFamily="2" charset="0"/>
              <a:ea typeface="Roboto Medium" pitchFamily="2" charset="0"/>
              <a:cs typeface="+mn-cs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4073A020-FA3A-5777-9CD0-341423B2CD18}"/>
              </a:ext>
            </a:extLst>
          </p:cNvPr>
          <p:cNvSpPr>
            <a:spLocks noGrp="1" noChangeArrowheads="1"/>
          </p:cNvSpPr>
          <p:nvPr>
            <p:ph type="body" sz="quarter" idx="17"/>
          </p:nvPr>
        </p:nvSpPr>
        <p:spPr bwMode="auto">
          <a:xfrm>
            <a:off x="683551" y="816173"/>
            <a:ext cx="10743755" cy="51098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ASCEND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(Autonomous Surveyor for Exploration, Navigation, and Dynamics) is a high-agility micro-quadrotor designed for fully autonomous mapping and feature detection.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runs a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ROS2 perception stack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on a Raspberry Pi 4, interfaced with a Pixhawk flight controller for precise, offboard mission logic.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We’ve integrated a unique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servo-mounted TF-Luna LiDAR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generate 2D ground profiles, improving terrain feature matching by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25%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 simulations.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custom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pogo-pin docking station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allows the drone to land, transfer data, and fast-charge autonomously, supporting 4–5 sorties within the mission time limit.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design includes a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dual-IMU fusion failover system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reducing navigation failure rates to less than 2% during high-vibration flight</a:t>
            </a:r>
          </a:p>
        </p:txBody>
      </p:sp>
    </p:spTree>
    <p:extLst>
      <p:ext uri="{BB962C8B-B14F-4D97-AF65-F5344CB8AC3E}">
        <p14:creationId xmlns:p14="http://schemas.microsoft.com/office/powerpoint/2010/main" val="17137104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C3946F-3675-654C-E2C9-822320A296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FC8554-450E-F339-FF18-6986F8D553B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7044" y="211302"/>
            <a:ext cx="11772055" cy="576163"/>
          </a:xfrm>
        </p:spPr>
        <p:txBody>
          <a:bodyPr/>
          <a:lstStyle/>
          <a:p>
            <a:pPr algn="ctr"/>
            <a:r>
              <a:rPr lang="en-US" sz="40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B23188-0468-1805-47B8-8427AD96F4F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5A3C14A-F937-4231-B6F1-40B429FAFB2F}" type="slidenum">
              <a:rPr kumimoji="0" lang="en-NZ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 Medium" pitchFamily="2" charset="0"/>
                <a:ea typeface="Roboto Medium" pitchFamily="2" charset="0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NZ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 Medium" pitchFamily="2" charset="0"/>
              <a:ea typeface="Roboto Medium" pitchFamily="2" charset="0"/>
              <a:cs typeface="+mn-cs"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B66BE7F-17D3-A371-E55F-7BA95362E924}"/>
              </a:ext>
            </a:extLst>
          </p:cNvPr>
          <p:cNvSpPr>
            <a:spLocks noGrp="1" noChangeArrowheads="1"/>
          </p:cNvSpPr>
          <p:nvPr>
            <p:ph type="body" sz="quarter" idx="17"/>
          </p:nvPr>
        </p:nvSpPr>
        <p:spPr bwMode="auto">
          <a:xfrm>
            <a:off x="513557" y="1356671"/>
            <a:ext cx="11164886" cy="40941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Autonomous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Navigation: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Develop a micro-quadrotor capable of systematic search and feature detection in GPS-denied environments.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Persistent Operation: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Enable multiple mission sorties through an autonomous docking and fast-charging system.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Reliable Perception: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Utilize a unique servo-mounted LiDAR system to improve terrain mapping accuracy by 25% over static configurations.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Integrity: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Facilitate secure, high-bandwidth data transfer via a wired UART interface upon successful docking.</a:t>
            </a:r>
          </a:p>
        </p:txBody>
      </p:sp>
    </p:spTree>
    <p:extLst>
      <p:ext uri="{BB962C8B-B14F-4D97-AF65-F5344CB8AC3E}">
        <p14:creationId xmlns:p14="http://schemas.microsoft.com/office/powerpoint/2010/main" val="21216169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12F603-6E48-C574-60B4-E66E899914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6251DA-FBAC-3744-7F27-68ED501F7E0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7044" y="71503"/>
            <a:ext cx="11772055" cy="576163"/>
          </a:xfrm>
        </p:spPr>
        <p:txBody>
          <a:bodyPr/>
          <a:lstStyle/>
          <a:p>
            <a:pPr algn="ctr"/>
            <a:r>
              <a:rPr lang="en-US" sz="40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OUR SOLUTION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19349B-9D18-A7AB-C891-B9553593C2C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5A3C14A-F937-4231-B6F1-40B429FAFB2F}" type="slidenum">
              <a:rPr kumimoji="0" lang="en-NZ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 Medium" pitchFamily="2" charset="0"/>
                <a:ea typeface="Roboto Medium" pitchFamily="2" charset="0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NZ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 Medium" pitchFamily="2" charset="0"/>
              <a:ea typeface="Roboto Medium" pitchFamily="2" charset="0"/>
              <a:cs typeface="+mn-cs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A42A341-637B-0737-3A74-40D8B4503EEC}"/>
              </a:ext>
            </a:extLst>
          </p:cNvPr>
          <p:cNvSpPr>
            <a:spLocks noGrp="1" noChangeArrowheads="1"/>
          </p:cNvSpPr>
          <p:nvPr>
            <p:ph type="body" sz="quarter" idx="17"/>
          </p:nvPr>
        </p:nvSpPr>
        <p:spPr bwMode="auto">
          <a:xfrm>
            <a:off x="599828" y="699784"/>
            <a:ext cx="11113199" cy="51098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Modular Architecture: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We are integrating a Raspberry Pi 4 companion computer with a Pixhawk flight controller to separate high-level autonomy from low-level flight stability.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Sensor Fusion: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Our system fuses data from a 12MP wide-angle camera and a TF-Luna LiDAR to perform Simultaneous Localization and Mapping (SLAM).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Custom Docking Interface: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We have designed a funnel-guided docking station using 6-pin spring-loaded pogo pins for automated power and data connectivity.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Validated Logic: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All mission routines, including "Return-to-Base" and low-battery failsafe's, are first verified through Software-in-the-Loop (SITL) simulations before physical deployment.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Power Management: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 4S Battery Management System (BMS) is utilized to ensure safe CC/CV charging and to isolate sensitive electronics during the recharge cycle.</a:t>
            </a:r>
          </a:p>
        </p:txBody>
      </p:sp>
    </p:spTree>
    <p:extLst>
      <p:ext uri="{BB962C8B-B14F-4D97-AF65-F5344CB8AC3E}">
        <p14:creationId xmlns:p14="http://schemas.microsoft.com/office/powerpoint/2010/main" val="2988710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8"/>
          </p:nvPr>
        </p:nvSpPr>
        <p:spPr>
          <a:xfrm>
            <a:off x="191344" y="-3593"/>
            <a:ext cx="11772055" cy="576163"/>
          </a:xfrm>
        </p:spPr>
        <p:txBody>
          <a:bodyPr/>
          <a:lstStyle/>
          <a:p>
            <a:pPr algn="ctr"/>
            <a:r>
              <a:rPr lang="en-US" sz="40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SPECIFICATION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5A3C14A-F937-4231-B6F1-40B429FAFB2F}" type="slidenum">
              <a:rPr kumimoji="0" lang="en-NZ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 Medium" pitchFamily="2" charset="0"/>
                <a:ea typeface="Roboto Medium" pitchFamily="2" charset="0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NZ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 Medium" pitchFamily="2" charset="0"/>
              <a:ea typeface="Roboto Medium" pitchFamily="2" charset="0"/>
              <a:cs typeface="+mn-cs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FA1A7B4-7884-0CDF-E13C-19B85E9F82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4168809"/>
              </p:ext>
            </p:extLst>
          </p:nvPr>
        </p:nvGraphicFramePr>
        <p:xfrm>
          <a:off x="1306286" y="561631"/>
          <a:ext cx="9910354" cy="557051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37678">
                  <a:extLst>
                    <a:ext uri="{9D8B030D-6E8A-4147-A177-3AD203B41FA5}">
                      <a16:colId xmlns:a16="http://schemas.microsoft.com/office/drawing/2014/main" val="3286827313"/>
                    </a:ext>
                  </a:extLst>
                </a:gridCol>
                <a:gridCol w="2683133">
                  <a:extLst>
                    <a:ext uri="{9D8B030D-6E8A-4147-A177-3AD203B41FA5}">
                      <a16:colId xmlns:a16="http://schemas.microsoft.com/office/drawing/2014/main" val="406012717"/>
                    </a:ext>
                  </a:extLst>
                </a:gridCol>
                <a:gridCol w="6589543">
                  <a:extLst>
                    <a:ext uri="{9D8B030D-6E8A-4147-A177-3AD203B41FA5}">
                      <a16:colId xmlns:a16="http://schemas.microsoft.com/office/drawing/2014/main" val="3884673295"/>
                    </a:ext>
                  </a:extLst>
                </a:gridCol>
              </a:tblGrid>
              <a:tr h="339484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IN" sz="1200" kern="15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Sl. No.</a:t>
                      </a:r>
                      <a:endParaRPr lang="en-IN" sz="1200" kern="15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975" marR="52975" marT="52975" marB="5297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IN" sz="1200" kern="15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lang="en-IN" sz="1200" kern="15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975" marR="52975" marT="52975" marB="5297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IN" sz="1200" kern="15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Specification</a:t>
                      </a:r>
                      <a:endParaRPr lang="en-IN" sz="1200" kern="150" dirty="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975" marR="52975" marT="52975" marB="52975" anchor="ctr"/>
                </a:tc>
                <a:extLst>
                  <a:ext uri="{0D108BD9-81ED-4DB2-BD59-A6C34878D82A}">
                    <a16:rowId xmlns:a16="http://schemas.microsoft.com/office/drawing/2014/main" val="649500793"/>
                  </a:ext>
                </a:extLst>
              </a:tr>
              <a:tr h="483256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IN" sz="1200" kern="15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200" kern="15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975" marR="52975" marT="52975" marB="5297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IN" sz="1200" kern="15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Overall mass</a:t>
                      </a:r>
                      <a:endParaRPr lang="en-IN" sz="1200" kern="150" dirty="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975" marR="52975" marT="52975" marB="5297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IN" sz="1200" kern="15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Approx. 1.8-1.9kg all‑up (S500 frame ≈405 g + 4×A2212 motors + 4S 4500 mAh battery + electronics). </a:t>
                      </a:r>
                      <a:endParaRPr lang="en-IN" sz="1200" kern="15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975" marR="52975" marT="52975" marB="52975" anchor="ctr"/>
                </a:tc>
                <a:extLst>
                  <a:ext uri="{0D108BD9-81ED-4DB2-BD59-A6C34878D82A}">
                    <a16:rowId xmlns:a16="http://schemas.microsoft.com/office/drawing/2014/main" val="1236972465"/>
                  </a:ext>
                </a:extLst>
              </a:tr>
              <a:tr h="607571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IN" sz="1200" kern="15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sz="1200" kern="15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975" marR="52975" marT="52975" marB="5297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IN" sz="1200" kern="15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Overall dimensions</a:t>
                      </a:r>
                      <a:endParaRPr lang="en-IN" sz="1200" kern="15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975" marR="52975" marT="52975" marB="5297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IN" sz="1200" kern="15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Frame wheelbase: 500 mm motor‑to‑motor diagonal; 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IN" sz="1200" kern="15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landing gear height ≈200 mm; </a:t>
                      </a:r>
                      <a:endParaRPr lang="en-IN" sz="1200" kern="15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975" marR="52975" marT="52975" marB="52975" anchor="ctr"/>
                </a:tc>
                <a:extLst>
                  <a:ext uri="{0D108BD9-81ED-4DB2-BD59-A6C34878D82A}">
                    <a16:rowId xmlns:a16="http://schemas.microsoft.com/office/drawing/2014/main" val="302402505"/>
                  </a:ext>
                </a:extLst>
              </a:tr>
              <a:tr h="678689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IN" sz="1200" kern="15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1200" kern="15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975" marR="52975" marT="52975" marB="5297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IN" sz="1200" kern="15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Power requirements</a:t>
                      </a:r>
                      <a:endParaRPr lang="en-IN" sz="1200" kern="15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975" marR="52975" marT="52975" marB="5297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IN" sz="1200" kern="15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Flight power: 4S 14.8 V Li‑Po, 4500 mAh; peak system current typically &lt;60–70 A; dock charging: 24 V input → 16.8 V CC/CV via buck + BMS. </a:t>
                      </a:r>
                      <a:endParaRPr lang="en-IN" sz="1200" kern="15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975" marR="52975" marT="52975" marB="52975" anchor="ctr"/>
                </a:tc>
                <a:extLst>
                  <a:ext uri="{0D108BD9-81ED-4DB2-BD59-A6C34878D82A}">
                    <a16:rowId xmlns:a16="http://schemas.microsoft.com/office/drawing/2014/main" val="1508206773"/>
                  </a:ext>
                </a:extLst>
              </a:tr>
              <a:tr h="678689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IN" sz="1200" kern="15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IN" sz="1200" kern="15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975" marR="52975" marT="52975" marB="5297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IN" sz="1200" kern="15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Flight time per charge</a:t>
                      </a:r>
                      <a:endParaRPr lang="en-IN" sz="1200" kern="15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975" marR="52975" marT="52975" marB="5297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IN" sz="1200" kern="15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8–10 minutes per sortie under typical mission profile (hover + slow translation) for 4S 4500 mAh on S500‑class quad. </a:t>
                      </a:r>
                      <a:endParaRPr lang="en-IN" sz="1200" kern="15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975" marR="52975" marT="52975" marB="52975" anchor="ctr"/>
                </a:tc>
                <a:extLst>
                  <a:ext uri="{0D108BD9-81ED-4DB2-BD59-A6C34878D82A}">
                    <a16:rowId xmlns:a16="http://schemas.microsoft.com/office/drawing/2014/main" val="870918300"/>
                  </a:ext>
                </a:extLst>
              </a:tr>
              <a:tr h="483256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IN" sz="1200" kern="15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IN" sz="1200" kern="15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975" marR="52975" marT="52975" marB="5297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IN" sz="1200" kern="15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Number of propellers and their size</a:t>
                      </a:r>
                      <a:endParaRPr lang="en-IN" sz="1200" kern="15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975" marR="52975" marT="52975" marB="5297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IN" sz="1200" kern="15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 propellers (quad configuration), 10″ fixed‑pitch (10×4.5) </a:t>
                      </a:r>
                      <a:endParaRPr lang="en-IN" sz="1200" kern="15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975" marR="52975" marT="52975" marB="52975" anchor="ctr"/>
                </a:tc>
                <a:extLst>
                  <a:ext uri="{0D108BD9-81ED-4DB2-BD59-A6C34878D82A}">
                    <a16:rowId xmlns:a16="http://schemas.microsoft.com/office/drawing/2014/main" val="2373984520"/>
                  </a:ext>
                </a:extLst>
              </a:tr>
              <a:tr h="1655853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IN" sz="1200" kern="15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IN" sz="1200" kern="15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975" marR="52975" marT="52975" marB="5297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IN" sz="1200" kern="15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Features</a:t>
                      </a:r>
                      <a:endParaRPr lang="en-IN" sz="1200" kern="150" dirty="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975" marR="52975" marT="52975" marB="5297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IN" sz="1200" kern="15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Autonomous takeoff, waypoint navigation, and landing via Pixhawk‑class FC and companion computer. </a:t>
                      </a:r>
                      <a:br>
                        <a:rPr lang="en-IN" sz="1200" kern="15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IN" sz="1200" kern="15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Automatic return‑to‑dock, funnel‑guided alignment, and pogo‑pin based charging with 4S BMS. </a:t>
                      </a:r>
                      <a:br>
                        <a:rPr lang="en-IN" sz="1200" kern="15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IN" sz="1200" kern="15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Onboard camera + range sensor for perception and obstacle/terrain sensing. ​ </a:t>
                      </a:r>
                      <a:br>
                        <a:rPr lang="en-IN" sz="1200" kern="15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IN" sz="1200" kern="15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Wired UART data link at dock plus wireless telemetry (RF) for monitoring, data sending and control.</a:t>
                      </a:r>
                      <a:endParaRPr lang="en-IN" sz="1200" kern="15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975" marR="52975" marT="52975" marB="52975" anchor="ctr"/>
                </a:tc>
                <a:extLst>
                  <a:ext uri="{0D108BD9-81ED-4DB2-BD59-A6C34878D82A}">
                    <a16:rowId xmlns:a16="http://schemas.microsoft.com/office/drawing/2014/main" val="3461447544"/>
                  </a:ext>
                </a:extLst>
              </a:tr>
              <a:tr h="607571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IN" sz="1200" kern="15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IN" sz="1200" kern="15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975" marR="52975" marT="52975" marB="5297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IN" sz="1200" kern="15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Others </a:t>
                      </a:r>
                      <a:endParaRPr lang="en-IN" sz="1200" kern="150" dirty="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975" marR="52975" marT="52975" marB="5297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IN" sz="1200" kern="15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Safety: BMS‑managed 4S Li‑Po charging (CC/CV, cell balancing, over‑voltage/over‑current protection). </a:t>
                      </a:r>
                      <a:endParaRPr lang="en-IN" sz="1200" kern="150" dirty="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975" marR="52975" marT="52975" marB="52975" anchor="ctr"/>
                </a:tc>
                <a:extLst>
                  <a:ext uri="{0D108BD9-81ED-4DB2-BD59-A6C34878D82A}">
                    <a16:rowId xmlns:a16="http://schemas.microsoft.com/office/drawing/2014/main" val="35695259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8136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8"/>
          </p:nvPr>
        </p:nvSpPr>
        <p:spPr>
          <a:xfrm>
            <a:off x="191344" y="5112"/>
            <a:ext cx="11772055" cy="576163"/>
          </a:xfrm>
        </p:spPr>
        <p:txBody>
          <a:bodyPr/>
          <a:lstStyle/>
          <a:p>
            <a:pPr algn="ctr"/>
            <a:r>
              <a:rPr lang="en-US" sz="40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COST OF THE COMPONENT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5A3C14A-F937-4231-B6F1-40B429FAFB2F}" type="slidenum">
              <a:rPr kumimoji="0" lang="en-NZ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 Medium" pitchFamily="2" charset="0"/>
                <a:ea typeface="Roboto Medium" pitchFamily="2" charset="0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NZ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 Medium" pitchFamily="2" charset="0"/>
              <a:ea typeface="Roboto Medium" pitchFamily="2" charset="0"/>
              <a:cs typeface="+mn-cs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74CDC25F-B3DE-1188-657D-7414A1AF71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9161" y="1226167"/>
            <a:ext cx="12551759" cy="5432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96E214-B881-016B-6169-CF792F7FD1BC}"/>
              </a:ext>
            </a:extLst>
          </p:cNvPr>
          <p:cNvSpPr txBox="1"/>
          <p:nvPr/>
        </p:nvSpPr>
        <p:spPr>
          <a:xfrm>
            <a:off x="339629" y="856835"/>
            <a:ext cx="26561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Mechanical Components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8164968-FC3D-DE93-D38E-BD75F54B6708}"/>
              </a:ext>
            </a:extLst>
          </p:cNvPr>
          <p:cNvSpPr txBox="1"/>
          <p:nvPr/>
        </p:nvSpPr>
        <p:spPr>
          <a:xfrm>
            <a:off x="3108959" y="856835"/>
            <a:ext cx="32570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Electrical &amp; Control Hardware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8AC0CD0-8681-C0BE-74AA-88C66E2857EE}"/>
              </a:ext>
            </a:extLst>
          </p:cNvPr>
          <p:cNvSpPr txBox="1"/>
          <p:nvPr/>
        </p:nvSpPr>
        <p:spPr>
          <a:xfrm>
            <a:off x="6836229" y="856835"/>
            <a:ext cx="10885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C2B780B-AA95-4D94-1FED-031A836CC0CC}"/>
              </a:ext>
            </a:extLst>
          </p:cNvPr>
          <p:cNvSpPr txBox="1"/>
          <p:nvPr/>
        </p:nvSpPr>
        <p:spPr>
          <a:xfrm>
            <a:off x="9606896" y="851472"/>
            <a:ext cx="215375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 Station &amp;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Docking Interface</a:t>
            </a:r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A2674645-54FC-74DF-DCC6-F88DBE8A11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1205276"/>
              </p:ext>
            </p:extLst>
          </p:nvPr>
        </p:nvGraphicFramePr>
        <p:xfrm>
          <a:off x="287381" y="1509847"/>
          <a:ext cx="2586445" cy="2428240"/>
        </p:xfrm>
        <a:graphic>
          <a:graphicData uri="http://schemas.openxmlformats.org/drawingml/2006/table">
            <a:tbl>
              <a:tblPr>
                <a:tableStyleId>{9DCAF9ED-07DC-4A11-8D7F-57B35C25682E}</a:tableStyleId>
              </a:tblPr>
              <a:tblGrid>
                <a:gridCol w="383594">
                  <a:extLst>
                    <a:ext uri="{9D8B030D-6E8A-4147-A177-3AD203B41FA5}">
                      <a16:colId xmlns:a16="http://schemas.microsoft.com/office/drawing/2014/main" val="4083092179"/>
                    </a:ext>
                  </a:extLst>
                </a:gridCol>
                <a:gridCol w="1135708">
                  <a:extLst>
                    <a:ext uri="{9D8B030D-6E8A-4147-A177-3AD203B41FA5}">
                      <a16:colId xmlns:a16="http://schemas.microsoft.com/office/drawing/2014/main" val="1919887095"/>
                    </a:ext>
                  </a:extLst>
                </a:gridCol>
                <a:gridCol w="1067143">
                  <a:extLst>
                    <a:ext uri="{9D8B030D-6E8A-4147-A177-3AD203B41FA5}">
                      <a16:colId xmlns:a16="http://schemas.microsoft.com/office/drawing/2014/main" val="1783213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</a:rPr>
                        <a:t>No.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</a:rPr>
                        <a:t>Hardware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 dirty="0">
                          <a:solidFill>
                            <a:srgbClr val="1F1F1F"/>
                          </a:solidFill>
                          <a:effectLst/>
                        </a:rPr>
                        <a:t>Cost(in INR)</a:t>
                      </a:r>
                      <a:endParaRPr lang="en-IN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37617483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</a:rPr>
                        <a:t>1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</a:rPr>
                        <a:t>Frame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3000</a:t>
                      </a: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30935986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</a:rPr>
                        <a:t>2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</a:rPr>
                        <a:t>Motors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2000</a:t>
                      </a: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35288662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</a:rPr>
                        <a:t>3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</a:rPr>
                        <a:t>Propellers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120</a:t>
                      </a: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3716925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</a:rPr>
                        <a:t>4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</a:rPr>
                        <a:t>Sensor mounts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1200</a:t>
                      </a: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898538264"/>
                  </a:ext>
                </a:extLst>
              </a:tr>
            </a:tbl>
          </a:graphicData>
        </a:graphic>
      </p:graphicFrame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6B370CDC-D1FB-B62B-38E3-A5BEB739A5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0889043"/>
              </p:ext>
            </p:extLst>
          </p:nvPr>
        </p:nvGraphicFramePr>
        <p:xfrm>
          <a:off x="3181598" y="1497803"/>
          <a:ext cx="2931820" cy="3352800"/>
        </p:xfrm>
        <a:graphic>
          <a:graphicData uri="http://schemas.openxmlformats.org/drawingml/2006/table">
            <a:tbl>
              <a:tblPr>
                <a:tableStyleId>{B301B821-A1FF-4177-AEE7-76D212191A09}</a:tableStyleId>
              </a:tblPr>
              <a:tblGrid>
                <a:gridCol w="380432">
                  <a:extLst>
                    <a:ext uri="{9D8B030D-6E8A-4147-A177-3AD203B41FA5}">
                      <a16:colId xmlns:a16="http://schemas.microsoft.com/office/drawing/2014/main" val="4215270240"/>
                    </a:ext>
                  </a:extLst>
                </a:gridCol>
                <a:gridCol w="1579228">
                  <a:extLst>
                    <a:ext uri="{9D8B030D-6E8A-4147-A177-3AD203B41FA5}">
                      <a16:colId xmlns:a16="http://schemas.microsoft.com/office/drawing/2014/main" val="1726475752"/>
                    </a:ext>
                  </a:extLst>
                </a:gridCol>
                <a:gridCol w="972160">
                  <a:extLst>
                    <a:ext uri="{9D8B030D-6E8A-4147-A177-3AD203B41FA5}">
                      <a16:colId xmlns:a16="http://schemas.microsoft.com/office/drawing/2014/main" val="263001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</a:rPr>
                        <a:t>No.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 dirty="0">
                          <a:solidFill>
                            <a:srgbClr val="1F1F1F"/>
                          </a:solidFill>
                          <a:effectLst/>
                        </a:rPr>
                        <a:t>Hardware</a:t>
                      </a:r>
                      <a:endParaRPr lang="en-IN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 dirty="0">
                          <a:solidFill>
                            <a:srgbClr val="1F1F1F"/>
                          </a:solidFill>
                          <a:effectLst/>
                        </a:rPr>
                        <a:t>Cost(in INR)</a:t>
                      </a:r>
                      <a:endParaRPr lang="en-IN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38562477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</a:rPr>
                        <a:t>5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</a:rPr>
                        <a:t>Battery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5200</a:t>
                      </a: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344657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</a:rPr>
                        <a:t>6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</a:rPr>
                        <a:t>ESCs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6000</a:t>
                      </a: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1590948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</a:rPr>
                        <a:t>7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dirty="0">
                          <a:solidFill>
                            <a:srgbClr val="1F1F1F"/>
                          </a:solidFill>
                          <a:effectLst/>
                        </a:rPr>
                        <a:t>Flight Controller</a:t>
                      </a:r>
                      <a:endParaRPr lang="en-IN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20000</a:t>
                      </a: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22193358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</a:rPr>
                        <a:t>8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Raspberry pi (2pc)</a:t>
                      </a: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20000</a:t>
                      </a: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24510957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</a:rPr>
                        <a:t>9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</a:rPr>
                        <a:t>Wiring &amp; connectors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500</a:t>
                      </a: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612152022"/>
                  </a:ext>
                </a:extLst>
              </a:tr>
            </a:tbl>
          </a:graphicData>
        </a:graphic>
      </p:graphicFrame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26DF23FF-7FBF-AD44-4B61-292574A504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4441255"/>
              </p:ext>
            </p:extLst>
          </p:nvPr>
        </p:nvGraphicFramePr>
        <p:xfrm>
          <a:off x="6356987" y="1473745"/>
          <a:ext cx="2849311" cy="1778000"/>
        </p:xfrm>
        <a:graphic>
          <a:graphicData uri="http://schemas.openxmlformats.org/drawingml/2006/table">
            <a:tbl>
              <a:tblPr>
                <a:tableStyleId>{B301B821-A1FF-4177-AEE7-76D212191A09}</a:tableStyleId>
              </a:tblPr>
              <a:tblGrid>
                <a:gridCol w="487155">
                  <a:extLst>
                    <a:ext uri="{9D8B030D-6E8A-4147-A177-3AD203B41FA5}">
                      <a16:colId xmlns:a16="http://schemas.microsoft.com/office/drawing/2014/main" val="3560610538"/>
                    </a:ext>
                  </a:extLst>
                </a:gridCol>
                <a:gridCol w="1181078">
                  <a:extLst>
                    <a:ext uri="{9D8B030D-6E8A-4147-A177-3AD203B41FA5}">
                      <a16:colId xmlns:a16="http://schemas.microsoft.com/office/drawing/2014/main" val="1415980885"/>
                    </a:ext>
                  </a:extLst>
                </a:gridCol>
                <a:gridCol w="1181078">
                  <a:extLst>
                    <a:ext uri="{9D8B030D-6E8A-4147-A177-3AD203B41FA5}">
                      <a16:colId xmlns:a16="http://schemas.microsoft.com/office/drawing/2014/main" val="33066182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</a:rPr>
                        <a:t>No.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</a:rPr>
                        <a:t>Hardware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</a:rPr>
                        <a:t>Cost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41269468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dirty="0">
                          <a:solidFill>
                            <a:srgbClr val="1F1F1F"/>
                          </a:solidFill>
                          <a:effectLst/>
                        </a:rPr>
                        <a:t>10</a:t>
                      </a:r>
                      <a:endParaRPr lang="en-IN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</a:rPr>
                        <a:t>Barometer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200</a:t>
                      </a: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772827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dirty="0">
                          <a:solidFill>
                            <a:srgbClr val="1F1F1F"/>
                          </a:solidFill>
                          <a:effectLst/>
                        </a:rPr>
                        <a:t>11</a:t>
                      </a:r>
                      <a:endParaRPr lang="en-IN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dirty="0">
                          <a:solidFill>
                            <a:srgbClr val="1F1F1F"/>
                          </a:solidFill>
                          <a:effectLst/>
                        </a:rPr>
                        <a:t>Camera</a:t>
                      </a:r>
                      <a:endParaRPr lang="en-IN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7000</a:t>
                      </a: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29536307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dirty="0">
                          <a:solidFill>
                            <a:srgbClr val="1F1F1F"/>
                          </a:solidFill>
                          <a:effectLst/>
                        </a:rPr>
                        <a:t>12</a:t>
                      </a:r>
                      <a:endParaRPr lang="en-IN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</a:rPr>
                        <a:t>Range sensor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5000</a:t>
                      </a: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1037268930"/>
                  </a:ext>
                </a:extLst>
              </a:tr>
            </a:tbl>
          </a:graphicData>
        </a:graphic>
      </p:graphicFrame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46E5B7F7-55B4-E221-AB17-62922FEF96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6769807"/>
              </p:ext>
            </p:extLst>
          </p:nvPr>
        </p:nvGraphicFramePr>
        <p:xfrm>
          <a:off x="9349964" y="1473745"/>
          <a:ext cx="2711408" cy="2702560"/>
        </p:xfrm>
        <a:graphic>
          <a:graphicData uri="http://schemas.openxmlformats.org/drawingml/2006/table">
            <a:tbl>
              <a:tblPr>
                <a:tableStyleId>{B301B821-A1FF-4177-AEE7-76D212191A09}</a:tableStyleId>
              </a:tblPr>
              <a:tblGrid>
                <a:gridCol w="504683">
                  <a:extLst>
                    <a:ext uri="{9D8B030D-6E8A-4147-A177-3AD203B41FA5}">
                      <a16:colId xmlns:a16="http://schemas.microsoft.com/office/drawing/2014/main" val="3823273089"/>
                    </a:ext>
                  </a:extLst>
                </a:gridCol>
                <a:gridCol w="1379507">
                  <a:extLst>
                    <a:ext uri="{9D8B030D-6E8A-4147-A177-3AD203B41FA5}">
                      <a16:colId xmlns:a16="http://schemas.microsoft.com/office/drawing/2014/main" val="1182337914"/>
                    </a:ext>
                  </a:extLst>
                </a:gridCol>
                <a:gridCol w="827218">
                  <a:extLst>
                    <a:ext uri="{9D8B030D-6E8A-4147-A177-3AD203B41FA5}">
                      <a16:colId xmlns:a16="http://schemas.microsoft.com/office/drawing/2014/main" val="25535848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</a:rPr>
                        <a:t>No.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</a:rPr>
                        <a:t>Hardware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</a:rPr>
                        <a:t>Cost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32393636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dirty="0">
                          <a:solidFill>
                            <a:srgbClr val="1F1F1F"/>
                          </a:solidFill>
                          <a:effectLst/>
                        </a:rPr>
                        <a:t>13</a:t>
                      </a:r>
                      <a:endParaRPr lang="en-IN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</a:rPr>
                        <a:t>Pogo-pin module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600</a:t>
                      </a: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25425555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dirty="0">
                          <a:solidFill>
                            <a:srgbClr val="1F1F1F"/>
                          </a:solidFill>
                          <a:effectLst/>
                        </a:rPr>
                        <a:t>14</a:t>
                      </a:r>
                      <a:endParaRPr lang="en-IN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</a:rPr>
                        <a:t>Base PCB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2000</a:t>
                      </a: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8219551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dirty="0">
                          <a:solidFill>
                            <a:srgbClr val="1F1F1F"/>
                          </a:solidFill>
                          <a:effectLst/>
                        </a:rPr>
                        <a:t>15</a:t>
                      </a:r>
                      <a:endParaRPr lang="en-IN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</a:rPr>
                        <a:t>UAV dock PCB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2000</a:t>
                      </a: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30067840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dirty="0">
                          <a:solidFill>
                            <a:srgbClr val="1F1F1F"/>
                          </a:solidFill>
                          <a:effectLst/>
                        </a:rPr>
                        <a:t>16</a:t>
                      </a:r>
                      <a:endParaRPr lang="en-IN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</a:rPr>
                        <a:t>4S Li-Po BMS Board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300</a:t>
                      </a: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1732113362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E12D65C1-64E5-D83E-168E-BD49CE1D0243}"/>
              </a:ext>
            </a:extLst>
          </p:cNvPr>
          <p:cNvSpPr txBox="1"/>
          <p:nvPr/>
        </p:nvSpPr>
        <p:spPr>
          <a:xfrm>
            <a:off x="304794" y="5401000"/>
            <a:ext cx="107466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Total Cost = ₹75120</a:t>
            </a:r>
          </a:p>
        </p:txBody>
      </p:sp>
    </p:spTree>
    <p:extLst>
      <p:ext uri="{BB962C8B-B14F-4D97-AF65-F5344CB8AC3E}">
        <p14:creationId xmlns:p14="http://schemas.microsoft.com/office/powerpoint/2010/main" val="22621186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01270-9F62-44DB-3F68-CA368B285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B8788F7-BEED-E0AD-9FF9-AD7A7F5B4E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877CCFB2-6147-19D1-E1AF-F3D5D6190969}"/>
              </a:ext>
            </a:extLst>
          </p:cNvPr>
          <p:cNvSpPr txBox="1">
            <a:spLocks/>
          </p:cNvSpPr>
          <p:nvPr/>
        </p:nvSpPr>
        <p:spPr>
          <a:xfrm>
            <a:off x="152400" y="152400"/>
            <a:ext cx="12192000" cy="68580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obel-Book"/>
              <a:cs typeface="+mn-cs"/>
            </a:endParaRPr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EB0E5540-60AA-B21A-3702-CDEDA361BFCA}"/>
              </a:ext>
            </a:extLst>
          </p:cNvPr>
          <p:cNvSpPr txBox="1">
            <a:spLocks/>
          </p:cNvSpPr>
          <p:nvPr/>
        </p:nvSpPr>
        <p:spPr>
          <a:xfrm>
            <a:off x="152400" y="152400"/>
            <a:ext cx="12192000" cy="68580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obel-Book"/>
              <a:cs typeface="+mn-cs"/>
            </a:endParaRPr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FBFAB497-06A9-2106-99B9-9C1FD08A1DFA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/>
          <a:srcRect t="21785" b="21785"/>
          <a:stretch>
            <a:fillRect/>
          </a:stretch>
        </p:blipFill>
        <p:spPr>
          <a:xfrm flipV="1">
            <a:off x="-291034" y="1268760"/>
            <a:ext cx="3528392" cy="3096344"/>
          </a:xfrm>
          <a:prstGeom prst="rect">
            <a:avLst/>
          </a:prstGeom>
        </p:spPr>
      </p:pic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14C69970-86B6-749B-DE8B-33CCFDD58CF4}"/>
              </a:ext>
            </a:extLst>
          </p:cNvPr>
          <p:cNvSpPr txBox="1">
            <a:spLocks/>
          </p:cNvSpPr>
          <p:nvPr/>
        </p:nvSpPr>
        <p:spPr>
          <a:xfrm>
            <a:off x="152400" y="152400"/>
            <a:ext cx="12192000" cy="68580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obel-Book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741824"/>
      </p:ext>
    </p:extLst>
  </p:cSld>
  <p:clrMapOvr>
    <a:masterClrMapping/>
  </p:clrMapOvr>
</p:sld>
</file>

<file path=ppt/theme/theme1.xml><?xml version="1.0" encoding="utf-8"?>
<a:theme xmlns:a="http://schemas.openxmlformats.org/drawingml/2006/main" name="REVA REVISED TEMPLATE">
  <a:themeElements>
    <a:clrScheme name="Lexus 3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0082B2"/>
      </a:accent2>
      <a:accent3>
        <a:srgbClr val="70AD47"/>
      </a:accent3>
      <a:accent4>
        <a:srgbClr val="A8B654"/>
      </a:accent4>
      <a:accent5>
        <a:srgbClr val="F8F8AD"/>
      </a:accent5>
      <a:accent6>
        <a:srgbClr val="CAB6D8"/>
      </a:accent6>
      <a:hlink>
        <a:srgbClr val="48367D"/>
      </a:hlink>
      <a:folHlink>
        <a:srgbClr val="A5A5A5"/>
      </a:folHlink>
    </a:clrScheme>
    <a:fontScheme name="ユーザー定義 1">
      <a:majorFont>
        <a:latin typeface="Nobel-Book"/>
        <a:ea typeface="レクサスロダン Pro L"/>
        <a:cs typeface=""/>
      </a:majorFont>
      <a:minorFont>
        <a:latin typeface="Nobel-Book"/>
        <a:ea typeface="レクサスロダン Pro 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iroko_LI master PPT template vs6_17 May" id="{612B838A-5E32-418B-B7C4-7EB4F3A298E7}" vid="{DD7C752D-2EC0-456A-A201-074024275761}"/>
    </a:ext>
  </a:extLst>
</a:theme>
</file>

<file path=ppt/theme/theme2.xml><?xml version="1.0" encoding="utf-8"?>
<a:theme xmlns:a="http://schemas.openxmlformats.org/drawingml/2006/main" name="Copy Slides">
  <a:themeElements>
    <a:clrScheme name="Lexus 3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0082B2"/>
      </a:accent2>
      <a:accent3>
        <a:srgbClr val="70AD47"/>
      </a:accent3>
      <a:accent4>
        <a:srgbClr val="A8B654"/>
      </a:accent4>
      <a:accent5>
        <a:srgbClr val="F8F8AD"/>
      </a:accent5>
      <a:accent6>
        <a:srgbClr val="CAB6D8"/>
      </a:accent6>
      <a:hlink>
        <a:srgbClr val="48367D"/>
      </a:hlink>
      <a:folHlink>
        <a:srgbClr val="A5A5A5"/>
      </a:folHlink>
    </a:clrScheme>
    <a:fontScheme name="ユーザー定義 1">
      <a:majorFont>
        <a:latin typeface="Nobel-Book"/>
        <a:ea typeface="レクサスロダン Pro L"/>
        <a:cs typeface=""/>
      </a:majorFont>
      <a:minorFont>
        <a:latin typeface="Nobel-Book"/>
        <a:ea typeface="レクサスロダン Pro 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ank You ">
  <a:themeElements>
    <a:clrScheme name="Lexus 3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0082B2"/>
      </a:accent2>
      <a:accent3>
        <a:srgbClr val="70AD47"/>
      </a:accent3>
      <a:accent4>
        <a:srgbClr val="A8B654"/>
      </a:accent4>
      <a:accent5>
        <a:srgbClr val="F8F8AD"/>
      </a:accent5>
      <a:accent6>
        <a:srgbClr val="CAB6D8"/>
      </a:accent6>
      <a:hlink>
        <a:srgbClr val="48367D"/>
      </a:hlink>
      <a:folHlink>
        <a:srgbClr val="A5A5A5"/>
      </a:folHlink>
    </a:clrScheme>
    <a:fontScheme name="ユーザー定義 1">
      <a:majorFont>
        <a:latin typeface="Nobel-Book"/>
        <a:ea typeface="レクサスロダン Pro L"/>
        <a:cs typeface=""/>
      </a:majorFont>
      <a:minorFont>
        <a:latin typeface="Nobel-Book"/>
        <a:ea typeface="レクサスロダン Pro 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227</TotalTime>
  <Words>782</Words>
  <Application>Microsoft Office PowerPoint</Application>
  <PresentationFormat>Widescreen</PresentationFormat>
  <Paragraphs>121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Arial</vt:lpstr>
      <vt:lpstr>Google Sans Text</vt:lpstr>
      <vt:lpstr>Nobel-Book</vt:lpstr>
      <vt:lpstr>Roboto Medium</vt:lpstr>
      <vt:lpstr>Times New Roman</vt:lpstr>
      <vt:lpstr>REVA REVISED TEMPLATE</vt:lpstr>
      <vt:lpstr>Copy Slides</vt:lpstr>
      <vt:lpstr>Thank You </vt:lpstr>
      <vt:lpstr>ISRO I-ROC-U Robotics Challenge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Atharv</dc:creator>
  <cp:lastModifiedBy>Manish megharaj</cp:lastModifiedBy>
  <cp:revision>7</cp:revision>
  <dcterms:created xsi:type="dcterms:W3CDTF">2025-12-05T04:26:36Z</dcterms:created>
  <dcterms:modified xsi:type="dcterms:W3CDTF">2026-02-12T15:47:28Z</dcterms:modified>
</cp:coreProperties>
</file>